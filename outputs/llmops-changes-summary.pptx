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31b40d379745a5" /><Relationship Type="http://schemas.openxmlformats.org/officeDocument/2006/relationships/extended-properties" Target="/docProps/app.xml" Id="Rcb967132dc27421e" /><Relationship Type="http://schemas.openxmlformats.org/officeDocument/2006/relationships/officeDocument" Target="/ppt/presentation.xml" Id="Rdaf633908f944b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c32534ad334bfc"/>
  </p:sldMasterIdLst>
  <p:notesMasterIdLst>
    <p:notesMasterId xmlns:r="http://schemas.openxmlformats.org/officeDocument/2006/relationships" r:id="R1130304fb9c145aa"/>
  </p:notesMasterIdLst>
  <p:sldIdLst>
    <p:sldId xmlns:r="http://schemas.openxmlformats.org/officeDocument/2006/relationships" id="256" r:id="Re1d43e5bcb17471f"/>
    <p:sldId xmlns:r="http://schemas.openxmlformats.org/officeDocument/2006/relationships" id="257" r:id="R3eb6f780c214476e"/>
    <p:sldId xmlns:r="http://schemas.openxmlformats.org/officeDocument/2006/relationships" id="258" r:id="R83cf65b2ddda4374"/>
    <p:sldId xmlns:r="http://schemas.openxmlformats.org/officeDocument/2006/relationships" id="259" r:id="Rfb606eab66f540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11cb0243604681" /><Relationship Type="http://schemas.openxmlformats.org/officeDocument/2006/relationships/slideMaster" Target="/ppt/slideMasters/slideMaster1.xml" Id="R5ec32534ad334bfc" /><Relationship Type="http://schemas.openxmlformats.org/officeDocument/2006/relationships/notesMaster" Target="/ppt/notesMasters/notesMaster1.xml" Id="R1130304fb9c145aa" /><Relationship Type="http://schemas.openxmlformats.org/officeDocument/2006/relationships/presProps" Target="/ppt/presProps.xml" Id="R6a99de4d9ceb4793" /><Relationship Type="http://schemas.openxmlformats.org/officeDocument/2006/relationships/tableStyles" Target="/ppt/tableStyles.xml" Id="R4922c28590e344ef" /><Relationship Type="http://schemas.openxmlformats.org/officeDocument/2006/relationships/slide" Target="/ppt/slides/slide1.xml" Id="Re1d43e5bcb17471f" /><Relationship Type="http://schemas.openxmlformats.org/officeDocument/2006/relationships/slide" Target="/ppt/slides/slide2.xml" Id="R3eb6f780c214476e" /><Relationship Type="http://schemas.openxmlformats.org/officeDocument/2006/relationships/slide" Target="/ppt/slides/slide3.xml" Id="R83cf65b2ddda4374" /><Relationship Type="http://schemas.openxmlformats.org/officeDocument/2006/relationships/slide" Target="/ppt/slides/slide4.xml" Id="Rfb606eab66f540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b94a3e05894e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b5f992d90549e2" /><Relationship Type="http://schemas.openxmlformats.org/officeDocument/2006/relationships/notesMaster" Target="/ppt/notesMasters/notesMaster1.xml" Id="R21e6aebe97a646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88d4c0831b443d" /><Relationship Type="http://schemas.openxmlformats.org/officeDocument/2006/relationships/notesMaster" Target="/ppt/notesMasters/notesMaster1.xml" Id="R73d60092616c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a574423bbf4ff5" /><Relationship Type="http://schemas.openxmlformats.org/officeDocument/2006/relationships/notesMaster" Target="/ppt/notesMasters/notesMaster1.xml" Id="Rbb441c12e48642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1fee783444bc7" /><Relationship Type="http://schemas.openxmlformats.org/officeDocument/2006/relationships/notesMaster" Target="/ppt/notesMasters/notesMaster1.xml" Id="Rc096fa5dd59243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7d5f0e0cf48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2bab11b77c41af" /><Relationship Type="http://schemas.openxmlformats.org/officeDocument/2006/relationships/slideLayout" Target="/ppt/slideLayouts/slideLayout1.xml" Id="R3ce564fd352a4b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564fd352a4b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04507cf2743b0" /><Relationship Type="http://schemas.openxmlformats.org/officeDocument/2006/relationships/image" Target="/ppt/media/image.png" Id="Rebfd891b11854838" /><Relationship Type="http://schemas.openxmlformats.org/officeDocument/2006/relationships/notesSlide" Target="/ppt/notesSlides/notesSlide1.xml" Id="Rf2914bfa3cf248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b4251a0c1484d" /><Relationship Type="http://schemas.openxmlformats.org/officeDocument/2006/relationships/image" Target="/ppt/media/image2.png" Id="R0098e1b268464cfe" /><Relationship Type="http://schemas.openxmlformats.org/officeDocument/2006/relationships/notesSlide" Target="/ppt/notesSlides/notesSlide2.xml" Id="Rc4f9b1b76eb448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ea264040d49d1" /><Relationship Type="http://schemas.openxmlformats.org/officeDocument/2006/relationships/image" Target="/ppt/media/image3.png" Id="R516306bb2cb746ec" /><Relationship Type="http://schemas.openxmlformats.org/officeDocument/2006/relationships/notesSlide" Target="/ppt/notesSlides/notesSlide3.xml" Id="R20982328cbcd4d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b48f533b8431e" /><Relationship Type="http://schemas.openxmlformats.org/officeDocument/2006/relationships/image" Target="/ppt/media/image4.png" Id="R49e5441a506a4a0d" /><Relationship Type="http://schemas.openxmlformats.org/officeDocument/2006/relationships/notesSlide" Target="/ppt/notesSlides/notesSlide4.xml" Id="R45ce1cec803d47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11276AA-5006-43EA-A11E-8153EE46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MILESTONE 2 INVOICE APP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B38E69-C688-48FE-8F31-60ED0208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LLMOps upgrade overview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6B716DF-6F3A-4208-88F8-0B89C963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Milestone 2 added contract, measurement, and CI enforcement around invoice extraction.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096242AA-38C7-4321-BC39-FBFEC277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chart-panel">
            <a:extLst xmlns:a="http://schemas.openxmlformats.org/drawingml/2006/main">
              <a:ext uri="{FF2B5EF4-FFF2-40B4-BE49-F238E27FC236}">
                <a16:creationId xmlns:a16="http://schemas.microsoft.com/office/drawing/2014/main" id="{A962690A-575A-426A-8BA8-4B2EBA50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55054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chart-frame">
            <a:extLst xmlns:a="http://schemas.openxmlformats.org/drawingml/2006/main">
              <a:ext uri="{FF2B5EF4-FFF2-40B4-BE49-F238E27FC236}">
                <a16:creationId xmlns:a16="http://schemas.microsoft.com/office/drawing/2014/main" id="{A1164AA8-7564-4920-B53F-397334B8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5048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DD54A5DD-857B-4D56-955F-E5319434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Current live run meets threshold with 0 invalid documents and 0 fallback documents.</a:t>
            </a:r>
          </a:p>
        </p:txBody>
      </p:sp>
      <p:sp>
        <p:nvSpPr>
          <p:cNvPr id="9" name="metric-top-rule">
            <a:extLst xmlns:a="http://schemas.openxmlformats.org/drawingml/2006/main">
              <a:ext uri="{FF2B5EF4-FFF2-40B4-BE49-F238E27FC236}">
                <a16:creationId xmlns:a16="http://schemas.microsoft.com/office/drawing/2014/main" id="{3997920E-B2D0-46FF-BACD-BFB4677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A41D9696-DF68-423C-A43F-01B7EFB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B93B14FE-7A4A-4FB0-BCC8-862A0217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19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etric-accuracy-value">
            <a:extLst xmlns:a="http://schemas.openxmlformats.org/drawingml/2006/main">
              <a:ext uri="{FF2B5EF4-FFF2-40B4-BE49-F238E27FC236}">
                <a16:creationId xmlns:a16="http://schemas.microsoft.com/office/drawing/2014/main" id="{F954B1F0-70BA-48E2-BAE9-9D8BC06E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v2</a:t>
            </a:r>
          </a:p>
        </p:txBody>
      </p:sp>
      <p:sp>
        <p:nvSpPr>
          <p:cNvPr id="13" name="metric-accuracy-label">
            <a:extLst xmlns:a="http://schemas.openxmlformats.org/drawingml/2006/main">
              <a:ext uri="{FF2B5EF4-FFF2-40B4-BE49-F238E27FC236}">
                <a16:creationId xmlns:a16="http://schemas.microsoft.com/office/drawing/2014/main" id="{6521601F-F3CD-40C0-A3B3-E07B20B3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Prompt/schema</a:t>
            </a:r>
          </a:p>
        </p:txBody>
      </p:sp>
      <p:sp>
        <p:nvSpPr>
          <p:cNvPr id="14" name="metric-latency-value">
            <a:extLst xmlns:a="http://schemas.openxmlformats.org/drawingml/2006/main">
              <a:ext uri="{FF2B5EF4-FFF2-40B4-BE49-F238E27FC236}">
                <a16:creationId xmlns:a16="http://schemas.microsoft.com/office/drawing/2014/main" id="{9BBE80BA-C938-4AB9-8635-B8BD771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816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metric-latency-label">
            <a:extLst xmlns:a="http://schemas.openxmlformats.org/drawingml/2006/main">
              <a:ext uri="{FF2B5EF4-FFF2-40B4-BE49-F238E27FC236}">
                <a16:creationId xmlns:a16="http://schemas.microsoft.com/office/drawing/2014/main" id="{7C44EBAA-B597-4F6F-AECB-79A76E2D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24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Change areas</a:t>
            </a:r>
          </a:p>
        </p:txBody>
      </p:sp>
      <p:sp>
        <p:nvSpPr>
          <p:cNvPr id="16" name="metric-tests-value">
            <a:extLst xmlns:a="http://schemas.openxmlformats.org/drawingml/2006/main">
              <a:ext uri="{FF2B5EF4-FFF2-40B4-BE49-F238E27FC236}">
                <a16:creationId xmlns:a16="http://schemas.microsoft.com/office/drawing/2014/main" id="{0D84BF2D-4359-456B-8BFB-92CB27C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81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23</a:t>
            </a:r>
          </a:p>
        </p:txBody>
      </p:sp>
      <p:sp>
        <p:nvSpPr>
          <p:cNvPr id="17" name="metric-tests-label">
            <a:extLst xmlns:a="http://schemas.openxmlformats.org/drawingml/2006/main">
              <a:ext uri="{FF2B5EF4-FFF2-40B4-BE49-F238E27FC236}">
                <a16:creationId xmlns:a16="http://schemas.microsoft.com/office/drawing/2014/main" id="{A0603611-4592-406A-8455-1AA0FFEC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24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LLMOps tests</a:t>
            </a:r>
          </a:p>
        </p:txBody>
      </p:sp>
      <p:sp>
        <p:nvSpPr>
          <p:cNvPr id="18" name="index-01">
            <a:extLst xmlns:a="http://schemas.openxmlformats.org/drawingml/2006/main">
              <a:ext uri="{FF2B5EF4-FFF2-40B4-BE49-F238E27FC236}">
                <a16:creationId xmlns:a16="http://schemas.microsoft.com/office/drawing/2014/main" id="{881D5B42-0409-4766-9EEC-21DE304A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19" name="heading-01">
            <a:extLst xmlns:a="http://schemas.openxmlformats.org/drawingml/2006/main">
              <a:ext uri="{FF2B5EF4-FFF2-40B4-BE49-F238E27FC236}">
                <a16:creationId xmlns:a16="http://schemas.microsoft.com/office/drawing/2014/main" id="{B52AF1D2-6787-4DD0-A961-1DCA8149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33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Versioned contract</a:t>
            </a:r>
          </a:p>
        </p:txBody>
      </p:sp>
      <p:sp>
        <p:nvSpPr>
          <p:cNvPr id="20" name="body-01">
            <a:extLst xmlns:a="http://schemas.openxmlformats.org/drawingml/2006/main">
              <a:ext uri="{FF2B5EF4-FFF2-40B4-BE49-F238E27FC236}">
                <a16:creationId xmlns:a16="http://schemas.microsoft.com/office/drawing/2014/main" id="{461A57DC-A9E4-458F-AD14-3AE55182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Prompt registry, invoice_v2 schema, and golden dataset now define extraction behavior and scoring.</a:t>
            </a:r>
          </a:p>
        </p:txBody>
      </p:sp>
      <p:sp>
        <p:nvSpPr>
          <p:cNvPr id="21" name="rule-01">
            <a:extLst xmlns:a="http://schemas.openxmlformats.org/drawingml/2006/main">
              <a:ext uri="{FF2B5EF4-FFF2-40B4-BE49-F238E27FC236}">
                <a16:creationId xmlns:a16="http://schemas.microsoft.com/office/drawing/2014/main" id="{825D8526-E5DB-4A5D-A52E-9C4A4260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90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index-02">
            <a:extLst xmlns:a="http://schemas.openxmlformats.org/drawingml/2006/main">
              <a:ext uri="{FF2B5EF4-FFF2-40B4-BE49-F238E27FC236}">
                <a16:creationId xmlns:a16="http://schemas.microsoft.com/office/drawing/2014/main" id="{AF228038-08DB-41A7-8BBD-89745BF8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23" name="heading-02">
            <a:extLst xmlns:a="http://schemas.openxmlformats.org/drawingml/2006/main">
              <a:ext uri="{FF2B5EF4-FFF2-40B4-BE49-F238E27FC236}">
                <a16:creationId xmlns:a16="http://schemas.microsoft.com/office/drawing/2014/main" id="{BBBFCADD-5871-4F7C-8B8E-367F01EC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28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Live pipeline</a:t>
            </a:r>
          </a:p>
        </p:txBody>
      </p:sp>
      <p:sp>
        <p:nvSpPr>
          <p:cNvPr id="24" name="body-02">
            <a:extLst xmlns:a="http://schemas.openxmlformats.org/drawingml/2006/main">
              <a:ext uri="{FF2B5EF4-FFF2-40B4-BE49-F238E27FC236}">
                <a16:creationId xmlns:a16="http://schemas.microsoft.com/office/drawing/2014/main" id="{30788CC6-4D49-4523-942C-565ED44A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33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OpenAI-compatible runner writes JSON, HTML, PNG, and DAG artifacts from golden OCR examples.</a:t>
            </a:r>
          </a:p>
        </p:txBody>
      </p:sp>
      <p:sp>
        <p:nvSpPr>
          <p:cNvPr id="25" name="rule-02">
            <a:extLst xmlns:a="http://schemas.openxmlformats.org/drawingml/2006/main">
              <a:ext uri="{FF2B5EF4-FFF2-40B4-BE49-F238E27FC236}">
                <a16:creationId xmlns:a16="http://schemas.microsoft.com/office/drawing/2014/main" id="{B62082B4-DE47-4C2C-B8EE-F30B6B2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86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index-03">
            <a:extLst xmlns:a="http://schemas.openxmlformats.org/drawingml/2006/main">
              <a:ext uri="{FF2B5EF4-FFF2-40B4-BE49-F238E27FC236}">
                <a16:creationId xmlns:a16="http://schemas.microsoft.com/office/drawing/2014/main" id="{F405089D-84D6-4753-96D4-41578236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27" name="heading-03">
            <a:extLst xmlns:a="http://schemas.openxmlformats.org/drawingml/2006/main">
              <a:ext uri="{FF2B5EF4-FFF2-40B4-BE49-F238E27FC236}">
                <a16:creationId xmlns:a16="http://schemas.microsoft.com/office/drawing/2014/main" id="{68689EFA-0539-4098-A368-4BE37EDC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24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Runtime metadata</a:t>
            </a:r>
          </a:p>
        </p:txBody>
      </p:sp>
      <p:sp>
        <p:nvSpPr>
          <p:cNvPr id="28" name="body-03">
            <a:extLst xmlns:a="http://schemas.openxmlformats.org/drawingml/2006/main">
              <a:ext uri="{FF2B5EF4-FFF2-40B4-BE49-F238E27FC236}">
                <a16:creationId xmlns:a16="http://schemas.microsoft.com/office/drawing/2014/main" id="{91A7F56A-B39B-4882-B7AB-4FAB8CD1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29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Backend records prompt version, schema version, fallback reason, latency, and usage-cost details.</a:t>
            </a:r>
          </a:p>
        </p:txBody>
      </p:sp>
      <p:sp>
        <p:nvSpPr>
          <p:cNvPr id="29" name="rule-03">
            <a:extLst xmlns:a="http://schemas.openxmlformats.org/drawingml/2006/main">
              <a:ext uri="{FF2B5EF4-FFF2-40B4-BE49-F238E27FC236}">
                <a16:creationId xmlns:a16="http://schemas.microsoft.com/office/drawing/2014/main" id="{A373349A-1403-460E-B18F-0638A038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0" name="index-04">
            <a:extLst xmlns:a="http://schemas.openxmlformats.org/drawingml/2006/main">
              <a:ext uri="{FF2B5EF4-FFF2-40B4-BE49-F238E27FC236}">
                <a16:creationId xmlns:a16="http://schemas.microsoft.com/office/drawing/2014/main" id="{B5049A21-E5F7-4E3D-8A7D-B7BF816F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31" name="heading-04">
            <a:extLst xmlns:a="http://schemas.openxmlformats.org/drawingml/2006/main">
              <a:ext uri="{FF2B5EF4-FFF2-40B4-BE49-F238E27FC236}">
                <a16:creationId xmlns:a16="http://schemas.microsoft.com/office/drawing/2014/main" id="{490DDCF4-7E65-4C92-A166-2620D1CA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1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CI enforcement</a:t>
            </a:r>
          </a:p>
        </p:txBody>
      </p:sp>
      <p:sp>
        <p:nvSpPr>
          <p:cNvPr id="32" name="body-04">
            <a:extLst xmlns:a="http://schemas.openxmlformats.org/drawingml/2006/main">
              <a:ext uri="{FF2B5EF4-FFF2-40B4-BE49-F238E27FC236}">
                <a16:creationId xmlns:a16="http://schemas.microsoft.com/office/drawing/2014/main" id="{C3658B20-CD68-46AE-99A3-CEF9856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24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GitHub Actions uploads offline and live reports, and missing live secret now fails gate loudly.</a:t>
            </a:r>
          </a:p>
        </p:txBody>
      </p:sp>
      <p:sp>
        <p:nvSpPr>
          <p:cNvPr id="33" name="rule-04">
            <a:extLst xmlns:a="http://schemas.openxmlformats.org/drawingml/2006/main">
              <a:ext uri="{FF2B5EF4-FFF2-40B4-BE49-F238E27FC236}">
                <a16:creationId xmlns:a16="http://schemas.microsoft.com/office/drawing/2014/main" id="{359E3515-079A-4A8B-BBD8-942D271E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76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4" name="sources">
            <a:extLst xmlns:a="http://schemas.openxmlformats.org/drawingml/2006/main">
              <a:ext uri="{FF2B5EF4-FFF2-40B4-BE49-F238E27FC236}">
                <a16:creationId xmlns:a16="http://schemas.microsoft.com/office/drawing/2014/main" id="{BF5F5520-FAED-4B89-936F-FCF7C9B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3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Sources: README.md, docs/llmops.md, outputs/llmops/live_eval_report.json, .github/workflows/llmops-ci.yml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d891b11854838"/>
          <a:stretch xmlns:a="http://schemas.openxmlformats.org/drawingml/2006/main"/>
        </p:blipFill>
        <p:spPr>
          <a:xfrm xmlns:a="http://schemas.openxmlformats.org/drawingml/2006/main" flipH="0" flipV="0">
            <a:off x="742950" y="2100263"/>
            <a:ext cx="4857750" cy="2428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09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11276AA-5006-43EA-A11E-8153EE46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MILESTONE 2 INVOICE APP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B38E69-C688-48FE-8F31-60ED0208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Pipeline and code changes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6B716DF-6F3A-4208-88F8-0B89C963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LLMOps moved from thin helpers to reusable modules around provider calls, reporting, and telemetry.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096242AA-38C7-4321-BC39-FBFEC277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chart-panel">
            <a:extLst xmlns:a="http://schemas.openxmlformats.org/drawingml/2006/main">
              <a:ext uri="{FF2B5EF4-FFF2-40B4-BE49-F238E27FC236}">
                <a16:creationId xmlns:a16="http://schemas.microsoft.com/office/drawing/2014/main" id="{A962690A-575A-426A-8BA8-4B2EBA50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55054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chart-frame">
            <a:extLst xmlns:a="http://schemas.openxmlformats.org/drawingml/2006/main">
              <a:ext uri="{FF2B5EF4-FFF2-40B4-BE49-F238E27FC236}">
                <a16:creationId xmlns:a16="http://schemas.microsoft.com/office/drawing/2014/main" id="{A1164AA8-7564-4920-B53F-397334B8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5048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DD54A5DD-857B-4D56-955F-E5319434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Live pipeline now exposes per-document provider timing instead of opaque provider calls.</a:t>
            </a:r>
          </a:p>
        </p:txBody>
      </p:sp>
      <p:sp>
        <p:nvSpPr>
          <p:cNvPr id="9" name="metric-top-rule">
            <a:extLst xmlns:a="http://schemas.openxmlformats.org/drawingml/2006/main">
              <a:ext uri="{FF2B5EF4-FFF2-40B4-BE49-F238E27FC236}">
                <a16:creationId xmlns:a16="http://schemas.microsoft.com/office/drawing/2014/main" id="{3997920E-B2D0-46FF-BACD-BFB4677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A41D9696-DF68-423C-A43F-01B7EFB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B93B14FE-7A4A-4FB0-BCC8-862A0217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19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etric-accuracy-value">
            <a:extLst xmlns:a="http://schemas.openxmlformats.org/drawingml/2006/main">
              <a:ext uri="{FF2B5EF4-FFF2-40B4-BE49-F238E27FC236}">
                <a16:creationId xmlns:a16="http://schemas.microsoft.com/office/drawing/2014/main" id="{F954B1F0-70BA-48E2-BAE9-9D8BC06E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3" name="metric-accuracy-label">
            <a:extLst xmlns:a="http://schemas.openxmlformats.org/drawingml/2006/main">
              <a:ext uri="{FF2B5EF4-FFF2-40B4-BE49-F238E27FC236}">
                <a16:creationId xmlns:a16="http://schemas.microsoft.com/office/drawing/2014/main" id="{6521601F-F3CD-40C0-A3B3-E07B20B3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Core helpers</a:t>
            </a:r>
          </a:p>
        </p:txBody>
      </p:sp>
      <p:sp>
        <p:nvSpPr>
          <p:cNvPr id="14" name="metric-latency-value">
            <a:extLst xmlns:a="http://schemas.openxmlformats.org/drawingml/2006/main">
              <a:ext uri="{FF2B5EF4-FFF2-40B4-BE49-F238E27FC236}">
                <a16:creationId xmlns:a16="http://schemas.microsoft.com/office/drawing/2014/main" id="{9BBE80BA-C938-4AB9-8635-B8BD771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816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5" name="metric-latency-label">
            <a:extLst xmlns:a="http://schemas.openxmlformats.org/drawingml/2006/main">
              <a:ext uri="{FF2B5EF4-FFF2-40B4-BE49-F238E27FC236}">
                <a16:creationId xmlns:a16="http://schemas.microsoft.com/office/drawing/2014/main" id="{7C44EBAA-B597-4F6F-AECB-79A76E2D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24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Eval modes</a:t>
            </a:r>
          </a:p>
        </p:txBody>
      </p:sp>
      <p:sp>
        <p:nvSpPr>
          <p:cNvPr id="16" name="metric-tests-value">
            <a:extLst xmlns:a="http://schemas.openxmlformats.org/drawingml/2006/main">
              <a:ext uri="{FF2B5EF4-FFF2-40B4-BE49-F238E27FC236}">
                <a16:creationId xmlns:a16="http://schemas.microsoft.com/office/drawing/2014/main" id="{0D84BF2D-4359-456B-8BFB-92CB27C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81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7" name="metric-tests-label">
            <a:extLst xmlns:a="http://schemas.openxmlformats.org/drawingml/2006/main">
              <a:ext uri="{FF2B5EF4-FFF2-40B4-BE49-F238E27FC236}">
                <a16:creationId xmlns:a16="http://schemas.microsoft.com/office/drawing/2014/main" id="{A0603611-4592-406A-8455-1AA0FFEC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24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Upload types</a:t>
            </a:r>
          </a:p>
        </p:txBody>
      </p:sp>
      <p:sp>
        <p:nvSpPr>
          <p:cNvPr id="18" name="index-01">
            <a:extLst xmlns:a="http://schemas.openxmlformats.org/drawingml/2006/main">
              <a:ext uri="{FF2B5EF4-FFF2-40B4-BE49-F238E27FC236}">
                <a16:creationId xmlns:a16="http://schemas.microsoft.com/office/drawing/2014/main" id="{881D5B42-0409-4766-9EEC-21DE304A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19" name="heading-01">
            <a:extLst xmlns:a="http://schemas.openxmlformats.org/drawingml/2006/main">
              <a:ext uri="{FF2B5EF4-FFF2-40B4-BE49-F238E27FC236}">
                <a16:creationId xmlns:a16="http://schemas.microsoft.com/office/drawing/2014/main" id="{B52AF1D2-6787-4DD0-A961-1DCA8149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33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Registry and schema</a:t>
            </a:r>
          </a:p>
        </p:txBody>
      </p:sp>
      <p:sp>
        <p:nvSpPr>
          <p:cNvPr id="20" name="body-01">
            <a:extLst xmlns:a="http://schemas.openxmlformats.org/drawingml/2006/main">
              <a:ext uri="{FF2B5EF4-FFF2-40B4-BE49-F238E27FC236}">
                <a16:creationId xmlns:a16="http://schemas.microsoft.com/office/drawing/2014/main" id="{461A57DC-A9E4-458F-AD14-3AE55182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llmops/registry.py and llmops/schema.py load prompt/schema versions instead of hardcoding extraction contract.</a:t>
            </a:r>
          </a:p>
        </p:txBody>
      </p:sp>
      <p:sp>
        <p:nvSpPr>
          <p:cNvPr id="21" name="rule-01">
            <a:extLst xmlns:a="http://schemas.openxmlformats.org/drawingml/2006/main">
              <a:ext uri="{FF2B5EF4-FFF2-40B4-BE49-F238E27FC236}">
                <a16:creationId xmlns:a16="http://schemas.microsoft.com/office/drawing/2014/main" id="{825D8526-E5DB-4A5D-A52E-9C4A4260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90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index-02">
            <a:extLst xmlns:a="http://schemas.openxmlformats.org/drawingml/2006/main">
              <a:ext uri="{FF2B5EF4-FFF2-40B4-BE49-F238E27FC236}">
                <a16:creationId xmlns:a16="http://schemas.microsoft.com/office/drawing/2014/main" id="{AF228038-08DB-41A7-8BBD-89745BF8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23" name="heading-02">
            <a:extLst xmlns:a="http://schemas.openxmlformats.org/drawingml/2006/main">
              <a:ext uri="{FF2B5EF4-FFF2-40B4-BE49-F238E27FC236}">
                <a16:creationId xmlns:a16="http://schemas.microsoft.com/office/drawing/2014/main" id="{BBBFCADD-5871-4F7C-8B8E-367F01EC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28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Live provider path</a:t>
            </a:r>
          </a:p>
        </p:txBody>
      </p:sp>
      <p:sp>
        <p:nvSpPr>
          <p:cNvPr id="24" name="body-02">
            <a:extLst xmlns:a="http://schemas.openxmlformats.org/drawingml/2006/main">
              <a:ext uri="{FF2B5EF4-FFF2-40B4-BE49-F238E27FC236}">
                <a16:creationId xmlns:a16="http://schemas.microsoft.com/office/drawing/2014/main" id="{30788CC6-4D49-4523-942C-565ED44A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33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llmops/live_provider.py and llmops/pipeline.py run per-document live eval and score every result row.</a:t>
            </a:r>
          </a:p>
        </p:txBody>
      </p:sp>
      <p:sp>
        <p:nvSpPr>
          <p:cNvPr id="25" name="rule-02">
            <a:extLst xmlns:a="http://schemas.openxmlformats.org/drawingml/2006/main">
              <a:ext uri="{FF2B5EF4-FFF2-40B4-BE49-F238E27FC236}">
                <a16:creationId xmlns:a16="http://schemas.microsoft.com/office/drawing/2014/main" id="{B62082B4-DE47-4C2C-B8EE-F30B6B2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86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index-03">
            <a:extLst xmlns:a="http://schemas.openxmlformats.org/drawingml/2006/main">
              <a:ext uri="{FF2B5EF4-FFF2-40B4-BE49-F238E27FC236}">
                <a16:creationId xmlns:a16="http://schemas.microsoft.com/office/drawing/2014/main" id="{F405089D-84D6-4753-96D4-41578236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27" name="heading-03">
            <a:extLst xmlns:a="http://schemas.openxmlformats.org/drawingml/2006/main">
              <a:ext uri="{FF2B5EF4-FFF2-40B4-BE49-F238E27FC236}">
                <a16:creationId xmlns:a16="http://schemas.microsoft.com/office/drawing/2014/main" id="{68689EFA-0539-4098-A368-4BE37EDC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24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Reporting and telemetry</a:t>
            </a:r>
          </a:p>
        </p:txBody>
      </p:sp>
      <p:sp>
        <p:nvSpPr>
          <p:cNvPr id="28" name="body-03">
            <a:extLst xmlns:a="http://schemas.openxmlformats.org/drawingml/2006/main">
              <a:ext uri="{FF2B5EF4-FFF2-40B4-BE49-F238E27FC236}">
                <a16:creationId xmlns:a16="http://schemas.microsoft.com/office/drawing/2014/main" id="{91A7F56A-B39B-4882-B7AB-4FAB8CD1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29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llmops/reporting.py and telemetry.py add charts, HTML output, token-cost totals, and Pushgateway rollups.</a:t>
            </a:r>
          </a:p>
        </p:txBody>
      </p:sp>
      <p:sp>
        <p:nvSpPr>
          <p:cNvPr id="29" name="rule-03">
            <a:extLst xmlns:a="http://schemas.openxmlformats.org/drawingml/2006/main">
              <a:ext uri="{FF2B5EF4-FFF2-40B4-BE49-F238E27FC236}">
                <a16:creationId xmlns:a16="http://schemas.microsoft.com/office/drawing/2014/main" id="{A373349A-1403-460E-B18F-0638A038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0" name="index-04">
            <a:extLst xmlns:a="http://schemas.openxmlformats.org/drawingml/2006/main">
              <a:ext uri="{FF2B5EF4-FFF2-40B4-BE49-F238E27FC236}">
                <a16:creationId xmlns:a16="http://schemas.microsoft.com/office/drawing/2014/main" id="{B5049A21-E5F7-4E3D-8A7D-B7BF816F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31" name="heading-04">
            <a:extLst xmlns:a="http://schemas.openxmlformats.org/drawingml/2006/main">
              <a:ext uri="{FF2B5EF4-FFF2-40B4-BE49-F238E27FC236}">
                <a16:creationId xmlns:a16="http://schemas.microsoft.com/office/drawing/2014/main" id="{490DDCF4-7E65-4C92-A166-2620D1CA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1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Backend integration</a:t>
            </a:r>
          </a:p>
        </p:txBody>
      </p:sp>
      <p:sp>
        <p:nvSpPr>
          <p:cNvPr id="32" name="body-04">
            <a:extLst xmlns:a="http://schemas.openxmlformats.org/drawingml/2006/main">
              <a:ext uri="{FF2B5EF4-FFF2-40B4-BE49-F238E27FC236}">
                <a16:creationId xmlns:a16="http://schemas.microsoft.com/office/drawing/2014/main" id="{C3658B20-CD68-46AE-99A3-CEF9856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24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app_backend.py now attaches LLMOps metadata to JPG, PDF, and DOCX extraction responses.</a:t>
            </a:r>
          </a:p>
        </p:txBody>
      </p:sp>
      <p:sp>
        <p:nvSpPr>
          <p:cNvPr id="33" name="rule-04">
            <a:extLst xmlns:a="http://schemas.openxmlformats.org/drawingml/2006/main">
              <a:ext uri="{FF2B5EF4-FFF2-40B4-BE49-F238E27FC236}">
                <a16:creationId xmlns:a16="http://schemas.microsoft.com/office/drawing/2014/main" id="{359E3515-079A-4A8B-BBD8-942D271E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76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4" name="sources">
            <a:extLst xmlns:a="http://schemas.openxmlformats.org/drawingml/2006/main">
              <a:ext uri="{FF2B5EF4-FFF2-40B4-BE49-F238E27FC236}">
                <a16:creationId xmlns:a16="http://schemas.microsoft.com/office/drawing/2014/main" id="{BF5F5520-FAED-4B89-936F-FCF7C9B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3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Sources: README.md, docs/llmops.md, app_backend.py, llmops/*.py, scripts/run_llmops_pipeline.py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8e1b268464cfe"/>
          <a:stretch xmlns:a="http://schemas.openxmlformats.org/drawingml/2006/main"/>
        </p:blipFill>
        <p:spPr>
          <a:xfrm xmlns:a="http://schemas.openxmlformats.org/drawingml/2006/main" flipH="0" flipV="0">
            <a:off x="742950" y="2100263"/>
            <a:ext cx="4857750" cy="2428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09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11276AA-5006-43EA-A11E-8153EE46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MILESTONE 2 INVOICE APP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B38E69-C688-48FE-8F31-60ED0208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Quality gates and contract hardening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6B716DF-6F3A-4208-88F8-0B89C963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Offline eval, live eval, and shared normalization now catch schema drift before release.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096242AA-38C7-4321-BC39-FBFEC277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chart-panel">
            <a:extLst xmlns:a="http://schemas.openxmlformats.org/drawingml/2006/main">
              <a:ext uri="{FF2B5EF4-FFF2-40B4-BE49-F238E27FC236}">
                <a16:creationId xmlns:a16="http://schemas.microsoft.com/office/drawing/2014/main" id="{A962690A-575A-426A-8BA8-4B2EBA50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55054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chart-frame">
            <a:extLst xmlns:a="http://schemas.openxmlformats.org/drawingml/2006/main">
              <a:ext uri="{FF2B5EF4-FFF2-40B4-BE49-F238E27FC236}">
                <a16:creationId xmlns:a16="http://schemas.microsoft.com/office/drawing/2014/main" id="{A1164AA8-7564-4920-B53F-397334B8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5048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DD54A5DD-857B-4D56-955F-E5319434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Offline golden eval remains deterministic and currently passes at 1.00 average field accuracy.</a:t>
            </a:r>
          </a:p>
        </p:txBody>
      </p:sp>
      <p:sp>
        <p:nvSpPr>
          <p:cNvPr id="9" name="metric-top-rule">
            <a:extLst xmlns:a="http://schemas.openxmlformats.org/drawingml/2006/main">
              <a:ext uri="{FF2B5EF4-FFF2-40B4-BE49-F238E27FC236}">
                <a16:creationId xmlns:a16="http://schemas.microsoft.com/office/drawing/2014/main" id="{3997920E-B2D0-46FF-BACD-BFB4677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A41D9696-DF68-423C-A43F-01B7EFB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B93B14FE-7A4A-4FB0-BCC8-862A0217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19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etric-accuracy-value">
            <a:extLst xmlns:a="http://schemas.openxmlformats.org/drawingml/2006/main">
              <a:ext uri="{FF2B5EF4-FFF2-40B4-BE49-F238E27FC236}">
                <a16:creationId xmlns:a16="http://schemas.microsoft.com/office/drawing/2014/main" id="{F954B1F0-70BA-48E2-BAE9-9D8BC06E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1.00</a:t>
            </a:r>
          </a:p>
        </p:txBody>
      </p:sp>
      <p:sp>
        <p:nvSpPr>
          <p:cNvPr id="13" name="metric-accuracy-label">
            <a:extLst xmlns:a="http://schemas.openxmlformats.org/drawingml/2006/main">
              <a:ext uri="{FF2B5EF4-FFF2-40B4-BE49-F238E27FC236}">
                <a16:creationId xmlns:a16="http://schemas.microsoft.com/office/drawing/2014/main" id="{6521601F-F3CD-40C0-A3B3-E07B20B3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Offline avg</a:t>
            </a:r>
          </a:p>
        </p:txBody>
      </p:sp>
      <p:sp>
        <p:nvSpPr>
          <p:cNvPr id="14" name="metric-latency-value">
            <a:extLst xmlns:a="http://schemas.openxmlformats.org/drawingml/2006/main">
              <a:ext uri="{FF2B5EF4-FFF2-40B4-BE49-F238E27FC236}">
                <a16:creationId xmlns:a16="http://schemas.microsoft.com/office/drawing/2014/main" id="{9BBE80BA-C938-4AB9-8635-B8BD771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816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0.80</a:t>
            </a:r>
          </a:p>
        </p:txBody>
      </p:sp>
      <p:sp>
        <p:nvSpPr>
          <p:cNvPr id="15" name="metric-latency-label">
            <a:extLst xmlns:a="http://schemas.openxmlformats.org/drawingml/2006/main">
              <a:ext uri="{FF2B5EF4-FFF2-40B4-BE49-F238E27FC236}">
                <a16:creationId xmlns:a16="http://schemas.microsoft.com/office/drawing/2014/main" id="{7C44EBAA-B597-4F6F-AECB-79A76E2D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24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Gate threshold</a:t>
            </a:r>
          </a:p>
        </p:txBody>
      </p:sp>
      <p:sp>
        <p:nvSpPr>
          <p:cNvPr id="16" name="metric-tests-value">
            <a:extLst xmlns:a="http://schemas.openxmlformats.org/drawingml/2006/main">
              <a:ext uri="{FF2B5EF4-FFF2-40B4-BE49-F238E27FC236}">
                <a16:creationId xmlns:a16="http://schemas.microsoft.com/office/drawing/2014/main" id="{0D84BF2D-4359-456B-8BFB-92CB27C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81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23</a:t>
            </a:r>
          </a:p>
        </p:txBody>
      </p:sp>
      <p:sp>
        <p:nvSpPr>
          <p:cNvPr id="17" name="metric-tests-label">
            <a:extLst xmlns:a="http://schemas.openxmlformats.org/drawingml/2006/main">
              <a:ext uri="{FF2B5EF4-FFF2-40B4-BE49-F238E27FC236}">
                <a16:creationId xmlns:a16="http://schemas.microsoft.com/office/drawing/2014/main" id="{A0603611-4592-406A-8455-1AA0FFEC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24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LLMOps tests</a:t>
            </a:r>
          </a:p>
        </p:txBody>
      </p:sp>
      <p:sp>
        <p:nvSpPr>
          <p:cNvPr id="18" name="index-01">
            <a:extLst xmlns:a="http://schemas.openxmlformats.org/drawingml/2006/main">
              <a:ext uri="{FF2B5EF4-FFF2-40B4-BE49-F238E27FC236}">
                <a16:creationId xmlns:a16="http://schemas.microsoft.com/office/drawing/2014/main" id="{881D5B42-0409-4766-9EEC-21DE304A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19" name="heading-01">
            <a:extLst xmlns:a="http://schemas.openxmlformats.org/drawingml/2006/main">
              <a:ext uri="{FF2B5EF4-FFF2-40B4-BE49-F238E27FC236}">
                <a16:creationId xmlns:a16="http://schemas.microsoft.com/office/drawing/2014/main" id="{B52AF1D2-6787-4DD0-A961-1DCA8149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33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Golden dataset</a:t>
            </a:r>
          </a:p>
        </p:txBody>
      </p:sp>
      <p:sp>
        <p:nvSpPr>
          <p:cNvPr id="20" name="body-01">
            <a:extLst xmlns:a="http://schemas.openxmlformats.org/drawingml/2006/main">
              <a:ext uri="{FF2B5EF4-FFF2-40B4-BE49-F238E27FC236}">
                <a16:creationId xmlns:a16="http://schemas.microsoft.com/office/drawing/2014/main" id="{461A57DC-A9E4-458F-AD14-3AE55182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OCR-text fixtures in data/golden keep regressions reviewable without live model dependency.</a:t>
            </a:r>
          </a:p>
        </p:txBody>
      </p:sp>
      <p:sp>
        <p:nvSpPr>
          <p:cNvPr id="21" name="rule-01">
            <a:extLst xmlns:a="http://schemas.openxmlformats.org/drawingml/2006/main">
              <a:ext uri="{FF2B5EF4-FFF2-40B4-BE49-F238E27FC236}">
                <a16:creationId xmlns:a16="http://schemas.microsoft.com/office/drawing/2014/main" id="{825D8526-E5DB-4A5D-A52E-9C4A4260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90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index-02">
            <a:extLst xmlns:a="http://schemas.openxmlformats.org/drawingml/2006/main">
              <a:ext uri="{FF2B5EF4-FFF2-40B4-BE49-F238E27FC236}">
                <a16:creationId xmlns:a16="http://schemas.microsoft.com/office/drawing/2014/main" id="{AF228038-08DB-41A7-8BBD-89745BF8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23" name="heading-02">
            <a:extLst xmlns:a="http://schemas.openxmlformats.org/drawingml/2006/main">
              <a:ext uri="{FF2B5EF4-FFF2-40B4-BE49-F238E27FC236}">
                <a16:creationId xmlns:a16="http://schemas.microsoft.com/office/drawing/2014/main" id="{BBBFCADD-5871-4F7C-8B8E-367F01EC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28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Nested line items</a:t>
            </a:r>
          </a:p>
        </p:txBody>
      </p:sp>
      <p:sp>
        <p:nvSpPr>
          <p:cNvPr id="24" name="body-02">
            <a:extLst xmlns:a="http://schemas.openxmlformats.org/drawingml/2006/main">
              <a:ext uri="{FF2B5EF4-FFF2-40B4-BE49-F238E27FC236}">
                <a16:creationId xmlns:a16="http://schemas.microsoft.com/office/drawing/2014/main" id="{30788CC6-4D49-4523-942C-565ED44A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33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v2 contract scores scalar fields and order_items separately so line-item drift stays visible.</a:t>
            </a:r>
          </a:p>
        </p:txBody>
      </p:sp>
      <p:sp>
        <p:nvSpPr>
          <p:cNvPr id="25" name="rule-02">
            <a:extLst xmlns:a="http://schemas.openxmlformats.org/drawingml/2006/main">
              <a:ext uri="{FF2B5EF4-FFF2-40B4-BE49-F238E27FC236}">
                <a16:creationId xmlns:a16="http://schemas.microsoft.com/office/drawing/2014/main" id="{B62082B4-DE47-4C2C-B8EE-F30B6B2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86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index-03">
            <a:extLst xmlns:a="http://schemas.openxmlformats.org/drawingml/2006/main">
              <a:ext uri="{FF2B5EF4-FFF2-40B4-BE49-F238E27FC236}">
                <a16:creationId xmlns:a16="http://schemas.microsoft.com/office/drawing/2014/main" id="{F405089D-84D6-4753-96D4-41578236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27" name="heading-03">
            <a:extLst xmlns:a="http://schemas.openxmlformats.org/drawingml/2006/main">
              <a:ext uri="{FF2B5EF4-FFF2-40B4-BE49-F238E27FC236}">
                <a16:creationId xmlns:a16="http://schemas.microsoft.com/office/drawing/2014/main" id="{68689EFA-0539-4098-A368-4BE37EDC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24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Normalization fix</a:t>
            </a:r>
          </a:p>
        </p:txBody>
      </p:sp>
      <p:sp>
        <p:nvSpPr>
          <p:cNvPr id="28" name="body-03">
            <a:extLst xmlns:a="http://schemas.openxmlformats.org/drawingml/2006/main">
              <a:ext uri="{FF2B5EF4-FFF2-40B4-BE49-F238E27FC236}">
                <a16:creationId xmlns:a16="http://schemas.microsoft.com/office/drawing/2014/main" id="{91A7F56A-B39B-4882-B7AB-4FAB8CD1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29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Shared coercion converts model numeric values to schema-safe strings before validation runs.</a:t>
            </a:r>
          </a:p>
        </p:txBody>
      </p:sp>
      <p:sp>
        <p:nvSpPr>
          <p:cNvPr id="29" name="rule-03">
            <a:extLst xmlns:a="http://schemas.openxmlformats.org/drawingml/2006/main">
              <a:ext uri="{FF2B5EF4-FFF2-40B4-BE49-F238E27FC236}">
                <a16:creationId xmlns:a16="http://schemas.microsoft.com/office/drawing/2014/main" id="{A373349A-1403-460E-B18F-0638A038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0" name="index-04">
            <a:extLst xmlns:a="http://schemas.openxmlformats.org/drawingml/2006/main">
              <a:ext uri="{FF2B5EF4-FFF2-40B4-BE49-F238E27FC236}">
                <a16:creationId xmlns:a16="http://schemas.microsoft.com/office/drawing/2014/main" id="{B5049A21-E5F7-4E3D-8A7D-B7BF816F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31" name="heading-04">
            <a:extLst xmlns:a="http://schemas.openxmlformats.org/drawingml/2006/main">
              <a:ext uri="{FF2B5EF4-FFF2-40B4-BE49-F238E27FC236}">
                <a16:creationId xmlns:a16="http://schemas.microsoft.com/office/drawing/2014/main" id="{490DDCF4-7E65-4C92-A166-2620D1CA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1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Artifact proof</a:t>
            </a:r>
          </a:p>
        </p:txBody>
      </p:sp>
      <p:sp>
        <p:nvSpPr>
          <p:cNvPr id="32" name="body-04">
            <a:extLst xmlns:a="http://schemas.openxmlformats.org/drawingml/2006/main">
              <a:ext uri="{FF2B5EF4-FFF2-40B4-BE49-F238E27FC236}">
                <a16:creationId xmlns:a16="http://schemas.microsoft.com/office/drawing/2014/main" id="{C3658B20-CD68-46AE-99A3-CEF9856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24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CI publishes llmops-eval-report and live-llmops-report so failures are inspectable from artifacts.</a:t>
            </a:r>
          </a:p>
        </p:txBody>
      </p:sp>
      <p:sp>
        <p:nvSpPr>
          <p:cNvPr id="33" name="rule-04">
            <a:extLst xmlns:a="http://schemas.openxmlformats.org/drawingml/2006/main">
              <a:ext uri="{FF2B5EF4-FFF2-40B4-BE49-F238E27FC236}">
                <a16:creationId xmlns:a16="http://schemas.microsoft.com/office/drawing/2014/main" id="{359E3515-079A-4A8B-BBD8-942D271E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76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4" name="sources">
            <a:extLst xmlns:a="http://schemas.openxmlformats.org/drawingml/2006/main">
              <a:ext uri="{FF2B5EF4-FFF2-40B4-BE49-F238E27FC236}">
                <a16:creationId xmlns:a16="http://schemas.microsoft.com/office/drawing/2014/main" id="{BF5F5520-FAED-4B89-936F-FCF7C9B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3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Sources: docs/llmops.md, outputs/llmops_eval_report.json, tests/unit/test_llmops_*.py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306bb2cb746ec"/>
          <a:stretch xmlns:a="http://schemas.openxmlformats.org/drawingml/2006/main"/>
        </p:blipFill>
        <p:spPr>
          <a:xfrm xmlns:a="http://schemas.openxmlformats.org/drawingml/2006/main" flipH="0" flipV="0">
            <a:off x="742950" y="2100263"/>
            <a:ext cx="4857750" cy="2428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09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11276AA-5006-43EA-A11E-8153EE46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MILESTONE 2 INVOICE APP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B38E69-C688-48FE-8F31-60ED0208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Live performance and operations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6B716DF-6F3A-4208-88F8-0B89C963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Latest live run meets target and feeds monitoring path used for operational visibility.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096242AA-38C7-4321-BC39-FBFEC277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chart-panel">
            <a:extLst xmlns:a="http://schemas.openxmlformats.org/drawingml/2006/main">
              <a:ext uri="{FF2B5EF4-FFF2-40B4-BE49-F238E27FC236}">
                <a16:creationId xmlns:a16="http://schemas.microsoft.com/office/drawing/2014/main" id="{A962690A-575A-426A-8BA8-4B2EBA50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55054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chart-frame">
            <a:extLst xmlns:a="http://schemas.openxmlformats.org/drawingml/2006/main">
              <a:ext uri="{FF2B5EF4-FFF2-40B4-BE49-F238E27FC236}">
                <a16:creationId xmlns:a16="http://schemas.microsoft.com/office/drawing/2014/main" id="{A1164AA8-7564-4920-B53F-397334B8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5048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DD54A5DD-857B-4D56-955F-E5319434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Current live report: 92.9% average accuracy, 5.14s average latency, 0 invalid documents.</a:t>
            </a:r>
          </a:p>
        </p:txBody>
      </p:sp>
      <p:sp>
        <p:nvSpPr>
          <p:cNvPr id="9" name="metric-top-rule">
            <a:extLst xmlns:a="http://schemas.openxmlformats.org/drawingml/2006/main">
              <a:ext uri="{FF2B5EF4-FFF2-40B4-BE49-F238E27FC236}">
                <a16:creationId xmlns:a16="http://schemas.microsoft.com/office/drawing/2014/main" id="{3997920E-B2D0-46FF-BACD-BFB4677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A41D9696-DF68-423C-A43F-01B7EFB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B93B14FE-7A4A-4FB0-BCC8-862A0217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19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etric-accuracy-value">
            <a:extLst xmlns:a="http://schemas.openxmlformats.org/drawingml/2006/main">
              <a:ext uri="{FF2B5EF4-FFF2-40B4-BE49-F238E27FC236}">
                <a16:creationId xmlns:a16="http://schemas.microsoft.com/office/drawing/2014/main" id="{F954B1F0-70BA-48E2-BAE9-9D8BC06E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92.9%</a:t>
            </a:r>
          </a:p>
        </p:txBody>
      </p:sp>
      <p:sp>
        <p:nvSpPr>
          <p:cNvPr id="13" name="metric-accuracy-label">
            <a:extLst xmlns:a="http://schemas.openxmlformats.org/drawingml/2006/main">
              <a:ext uri="{FF2B5EF4-FFF2-40B4-BE49-F238E27FC236}">
                <a16:creationId xmlns:a16="http://schemas.microsoft.com/office/drawing/2014/main" id="{6521601F-F3CD-40C0-A3B3-E07B20B3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Live accuracy</a:t>
            </a:r>
          </a:p>
        </p:txBody>
      </p:sp>
      <p:sp>
        <p:nvSpPr>
          <p:cNvPr id="14" name="metric-latency-value">
            <a:extLst xmlns:a="http://schemas.openxmlformats.org/drawingml/2006/main">
              <a:ext uri="{FF2B5EF4-FFF2-40B4-BE49-F238E27FC236}">
                <a16:creationId xmlns:a16="http://schemas.microsoft.com/office/drawing/2014/main" id="{9BBE80BA-C938-4AB9-8635-B8BD771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816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5.14s</a:t>
            </a:r>
          </a:p>
        </p:txBody>
      </p:sp>
      <p:sp>
        <p:nvSpPr>
          <p:cNvPr id="15" name="metric-latency-label">
            <a:extLst xmlns:a="http://schemas.openxmlformats.org/drawingml/2006/main">
              <a:ext uri="{FF2B5EF4-FFF2-40B4-BE49-F238E27FC236}">
                <a16:creationId xmlns:a16="http://schemas.microsoft.com/office/drawing/2014/main" id="{7C44EBAA-B597-4F6F-AECB-79A76E2D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24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Avg latency</a:t>
            </a:r>
          </a:p>
        </p:txBody>
      </p:sp>
      <p:sp>
        <p:nvSpPr>
          <p:cNvPr id="16" name="metric-tests-value">
            <a:extLst xmlns:a="http://schemas.openxmlformats.org/drawingml/2006/main">
              <a:ext uri="{FF2B5EF4-FFF2-40B4-BE49-F238E27FC236}">
                <a16:creationId xmlns:a16="http://schemas.microsoft.com/office/drawing/2014/main" id="{0D84BF2D-4359-456B-8BFB-92CB27C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81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7" name="metric-tests-label">
            <a:extLst xmlns:a="http://schemas.openxmlformats.org/drawingml/2006/main">
              <a:ext uri="{FF2B5EF4-FFF2-40B4-BE49-F238E27FC236}">
                <a16:creationId xmlns:a16="http://schemas.microsoft.com/office/drawing/2014/main" id="{A0603611-4592-406A-8455-1AA0FFEC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24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Invalid docs</a:t>
            </a:r>
          </a:p>
        </p:txBody>
      </p:sp>
      <p:sp>
        <p:nvSpPr>
          <p:cNvPr id="18" name="index-01">
            <a:extLst xmlns:a="http://schemas.openxmlformats.org/drawingml/2006/main">
              <a:ext uri="{FF2B5EF4-FFF2-40B4-BE49-F238E27FC236}">
                <a16:creationId xmlns:a16="http://schemas.microsoft.com/office/drawing/2014/main" id="{881D5B42-0409-4766-9EEC-21DE304A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19" name="heading-01">
            <a:extLst xmlns:a="http://schemas.openxmlformats.org/drawingml/2006/main">
              <a:ext uri="{FF2B5EF4-FFF2-40B4-BE49-F238E27FC236}">
                <a16:creationId xmlns:a16="http://schemas.microsoft.com/office/drawing/2014/main" id="{B52AF1D2-6787-4DD0-A961-1DCA8149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33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Provider config</a:t>
            </a:r>
          </a:p>
        </p:txBody>
      </p:sp>
      <p:sp>
        <p:nvSpPr>
          <p:cNvPr id="20" name="body-01">
            <a:extLst xmlns:a="http://schemas.openxmlformats.org/drawingml/2006/main">
              <a:ext uri="{FF2B5EF4-FFF2-40B4-BE49-F238E27FC236}">
                <a16:creationId xmlns:a16="http://schemas.microsoft.com/office/drawing/2014/main" id="{461A57DC-A9E4-458F-AD14-3AE55182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Live pipeline uses OPENAI_API_KEY, optional OPENAI_API_BASE, pricing config, and optional Pushgateway URL.</a:t>
            </a:r>
          </a:p>
        </p:txBody>
      </p:sp>
      <p:sp>
        <p:nvSpPr>
          <p:cNvPr id="21" name="rule-01">
            <a:extLst xmlns:a="http://schemas.openxmlformats.org/drawingml/2006/main">
              <a:ext uri="{FF2B5EF4-FFF2-40B4-BE49-F238E27FC236}">
                <a16:creationId xmlns:a16="http://schemas.microsoft.com/office/drawing/2014/main" id="{825D8526-E5DB-4A5D-A52E-9C4A4260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90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index-02">
            <a:extLst xmlns:a="http://schemas.openxmlformats.org/drawingml/2006/main">
              <a:ext uri="{FF2B5EF4-FFF2-40B4-BE49-F238E27FC236}">
                <a16:creationId xmlns:a16="http://schemas.microsoft.com/office/drawing/2014/main" id="{AF228038-08DB-41A7-8BBD-89745BF8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23" name="heading-02">
            <a:extLst xmlns:a="http://schemas.openxmlformats.org/drawingml/2006/main">
              <a:ext uri="{FF2B5EF4-FFF2-40B4-BE49-F238E27FC236}">
                <a16:creationId xmlns:a16="http://schemas.microsoft.com/office/drawing/2014/main" id="{BBBFCADD-5871-4F7C-8B8E-367F01EC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28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Observability stack</a:t>
            </a:r>
          </a:p>
        </p:txBody>
      </p:sp>
      <p:sp>
        <p:nvSpPr>
          <p:cNvPr id="24" name="body-02">
            <a:extLst xmlns:a="http://schemas.openxmlformats.org/drawingml/2006/main">
              <a:ext uri="{FF2B5EF4-FFF2-40B4-BE49-F238E27FC236}">
                <a16:creationId xmlns:a16="http://schemas.microsoft.com/office/drawing/2014/main" id="{30788CC6-4D49-4523-942C-565ED44A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33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docker-compose.yml exposes app metrics, Prometheus, Pushgateway, and Grafana for pipeline monitoring.</a:t>
            </a:r>
          </a:p>
        </p:txBody>
      </p:sp>
      <p:sp>
        <p:nvSpPr>
          <p:cNvPr id="25" name="rule-02">
            <a:extLst xmlns:a="http://schemas.openxmlformats.org/drawingml/2006/main">
              <a:ext uri="{FF2B5EF4-FFF2-40B4-BE49-F238E27FC236}">
                <a16:creationId xmlns:a16="http://schemas.microsoft.com/office/drawing/2014/main" id="{B62082B4-DE47-4C2C-B8EE-F30B6B2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86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index-03">
            <a:extLst xmlns:a="http://schemas.openxmlformats.org/drawingml/2006/main">
              <a:ext uri="{FF2B5EF4-FFF2-40B4-BE49-F238E27FC236}">
                <a16:creationId xmlns:a16="http://schemas.microsoft.com/office/drawing/2014/main" id="{F405089D-84D6-4753-96D4-41578236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27" name="heading-03">
            <a:extLst xmlns:a="http://schemas.openxmlformats.org/drawingml/2006/main">
              <a:ext uri="{FF2B5EF4-FFF2-40B4-BE49-F238E27FC236}">
                <a16:creationId xmlns:a16="http://schemas.microsoft.com/office/drawing/2014/main" id="{68689EFA-0539-4098-A368-4BE37EDC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24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Fallback discipline</a:t>
            </a:r>
          </a:p>
        </p:txBody>
      </p:sp>
      <p:sp>
        <p:nvSpPr>
          <p:cNvPr id="28" name="body-03">
            <a:extLst xmlns:a="http://schemas.openxmlformats.org/drawingml/2006/main">
              <a:ext uri="{FF2B5EF4-FFF2-40B4-BE49-F238E27FC236}">
                <a16:creationId xmlns:a16="http://schemas.microsoft.com/office/drawing/2014/main" id="{91A7F56A-B39B-4882-B7AB-4FAB8CD1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29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Live evaluator does not count local fallback as provider success, keeping report quality honest.</a:t>
            </a:r>
          </a:p>
        </p:txBody>
      </p:sp>
      <p:sp>
        <p:nvSpPr>
          <p:cNvPr id="29" name="rule-03">
            <a:extLst xmlns:a="http://schemas.openxmlformats.org/drawingml/2006/main">
              <a:ext uri="{FF2B5EF4-FFF2-40B4-BE49-F238E27FC236}">
                <a16:creationId xmlns:a16="http://schemas.microsoft.com/office/drawing/2014/main" id="{A373349A-1403-460E-B18F-0638A038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0" name="index-04">
            <a:extLst xmlns:a="http://schemas.openxmlformats.org/drawingml/2006/main">
              <a:ext uri="{FF2B5EF4-FFF2-40B4-BE49-F238E27FC236}">
                <a16:creationId xmlns:a16="http://schemas.microsoft.com/office/drawing/2014/main" id="{B5049A21-E5F7-4E3D-8A7D-B7BF816F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31" name="heading-04">
            <a:extLst xmlns:a="http://schemas.openxmlformats.org/drawingml/2006/main">
              <a:ext uri="{FF2B5EF4-FFF2-40B4-BE49-F238E27FC236}">
                <a16:creationId xmlns:a16="http://schemas.microsoft.com/office/drawing/2014/main" id="{490DDCF4-7E65-4C92-A166-2620D1CA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1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Operational benefit</a:t>
            </a:r>
          </a:p>
        </p:txBody>
      </p:sp>
      <p:sp>
        <p:nvSpPr>
          <p:cNvPr id="32" name="body-04">
            <a:extLst xmlns:a="http://schemas.openxmlformats.org/drawingml/2006/main">
              <a:ext uri="{FF2B5EF4-FFF2-40B4-BE49-F238E27FC236}">
                <a16:creationId xmlns:a16="http://schemas.microsoft.com/office/drawing/2014/main" id="{C3658B20-CD68-46AE-99A3-CEF9856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24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Same contract now shows up in app runtime, CI artifacts, and live performance reporting.</a:t>
            </a:r>
          </a:p>
        </p:txBody>
      </p:sp>
      <p:sp>
        <p:nvSpPr>
          <p:cNvPr id="33" name="rule-04">
            <a:extLst xmlns:a="http://schemas.openxmlformats.org/drawingml/2006/main">
              <a:ext uri="{FF2B5EF4-FFF2-40B4-BE49-F238E27FC236}">
                <a16:creationId xmlns:a16="http://schemas.microsoft.com/office/drawing/2014/main" id="{359E3515-079A-4A8B-BBD8-942D271E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76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4" name="sources">
            <a:extLst xmlns:a="http://schemas.openxmlformats.org/drawingml/2006/main">
              <a:ext uri="{FF2B5EF4-FFF2-40B4-BE49-F238E27FC236}">
                <a16:creationId xmlns:a16="http://schemas.microsoft.com/office/drawing/2014/main" id="{BF5F5520-FAED-4B89-936F-FCF7C9B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3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555555"/>
                </a:solidFill>
              </a:defRPr>
            </a:pPr>
            <a:r>
              <a:rPr sz="825">
                <a:solidFill>
                  <a:srgbClr val="555555"/>
                </a:solidFill>
              </a:rPr>
              <a:t>Sources: outputs/llmops/live_eval_report.json, docs/llmops.md, docker-compose.yml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5441a506a4a0d"/>
          <a:stretch xmlns:a="http://schemas.openxmlformats.org/drawingml/2006/main"/>
        </p:blipFill>
        <p:spPr>
          <a:xfrm xmlns:a="http://schemas.openxmlformats.org/drawingml/2006/main" flipH="0" flipV="0">
            <a:off x="742950" y="2100263"/>
            <a:ext cx="4857750" cy="2428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09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2026-06-26T19:08:35.8020000Z</dcterms:created>
  <dcterms:modified xsi:type="dcterms:W3CDTF">2026-06-26T19:08:35.8020000Z</dcterms:modified>
</coreProperties>
</file>