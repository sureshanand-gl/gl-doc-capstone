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050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840480" cy="384048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4206240"/>
            <a:ext cx="1828800" cy="18288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1463040" cy="329184"/>
          </a:xfrm>
          <a:prstGeom prst="roundRect">
            <a:avLst>
              <a:gd name="adj" fmla="val 27778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LLMOps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 Understanding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217627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48640" y="31272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LLMOps Practices — gl-doc-capstone · Milestone 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2A3D8F"/>
          </a:solidFill>
          <a:ln w="12700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5760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EasyOCR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93392" y="365760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2A3D8F"/>
          </a:solidFill>
          <a:ln w="12700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3392" y="365760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GPT-4o-mini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38144" y="365760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2A3D8F"/>
          </a:solidFill>
          <a:ln w="12700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38144" y="365760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Qwen-VL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82896" y="365760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2A3D8F"/>
          </a:solidFill>
          <a:ln w="12700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82896" y="365760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Prometheus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27648" y="365760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2A3D8F"/>
          </a:solidFill>
          <a:ln w="12700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365760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Grafana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772400" y="365760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2A3D8F"/>
          </a:solidFill>
          <a:ln w="12700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365760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GitHub Actions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 Pipeline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A5568"/>
                </a:solidFill>
              </a:rPr>
              <a:t>Multi-provider field extraction with automatic fallback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1389888" cy="1005840"/>
          </a:xfrm>
          <a:prstGeom prst="roundRect">
            <a:avLst>
              <a:gd name="adj" fmla="val 9091"/>
            </a:avLst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24712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Document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581912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EEFF"/>
                </a:solidFill>
              </a:rPr>
              <a:t>JPG · PDF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DEEFF"/>
                </a:solidFill>
              </a:rPr>
              <a:t>DOCX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746504" y="1554480"/>
            <a:ext cx="164592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01368" y="143560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65960" y="1051560"/>
            <a:ext cx="1389888" cy="1005840"/>
          </a:xfrm>
          <a:prstGeom prst="roundRect">
            <a:avLst>
              <a:gd name="adj" fmla="val 909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65960" y="1124712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EasyOCR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Local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65960" y="1581912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EEFF"/>
                </a:solidFill>
              </a:rPr>
              <a:t>Layout-aware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DEEFF"/>
                </a:solidFill>
              </a:rPr>
              <a:t>CRAFT detector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392424" y="1554480"/>
            <a:ext cx="164592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47288" y="143560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11880" y="1051560"/>
            <a:ext cx="1389888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11880" y="1124712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LLM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Extraction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11880" y="1581912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EEFF"/>
                </a:solidFill>
              </a:rPr>
              <a:t>GPT-4o-mini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DEEFF"/>
                </a:solidFill>
              </a:rPr>
              <a:t>Qwen-VL local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38344" y="1554480"/>
            <a:ext cx="164592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143560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57800" y="1051560"/>
            <a:ext cx="1389888" cy="1005840"/>
          </a:xfrm>
          <a:prstGeom prst="roundRect">
            <a:avLst>
              <a:gd name="adj" fmla="val 9091"/>
            </a:avLst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57800" y="1124712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Schema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57800" y="1581912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EEFF"/>
                </a:solidFill>
              </a:rPr>
              <a:t>invoice_v2.json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DEEFF"/>
                </a:solidFill>
              </a:rPr>
              <a:t>JSON Schema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684264" y="1554480"/>
            <a:ext cx="164592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39128" y="143560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03720" y="1051560"/>
            <a:ext cx="1389888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03720" y="1124712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LLMOps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Metadata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03720" y="1581912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EEFF"/>
                </a:solidFill>
              </a:rPr>
              <a:t>Trace · Cost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DEEFF"/>
                </a:solidFill>
              </a:rPr>
              <a:t>Mode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295144" y="221284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F6A623">
              <a:alpha val="80000"/>
            </a:srgbClr>
          </a:solidFill>
          <a:ln w="12700">
            <a:solidFill>
              <a:srgbClr val="E08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95144" y="22128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748"/>
                </a:solidFill>
              </a:rPr>
              <a:t>⚠  Local Regex Fallback  (gpt_unavailable / policy_block / parse_error)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2743200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1480" y="2743200"/>
            <a:ext cx="4114800" cy="320040"/>
          </a:xfrm>
          <a:prstGeom prst="roundRect">
            <a:avLst>
              <a:gd name="adj" fmla="val 28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2898648"/>
            <a:ext cx="4114800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2743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Prompt &amp; Schema Versioning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3090672"/>
            <a:ext cx="384048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prompts/registry.yaml</a:t>
            </a:r>
            <a:endParaRPr lang="en-US" sz="9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prompts/invoices/v2/system.md</a:t>
            </a:r>
            <a:endParaRPr lang="en-US" sz="9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schemas/invoice_v2.json</a:t>
            </a:r>
            <a:endParaRPr lang="en-US" sz="9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env: LLMOPS_PROMPT_VERSION=v2</a:t>
            </a:r>
            <a:endParaRPr lang="en-US" sz="9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LLMOPS_SCHEMA_VERSION=v2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17720" y="2743200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17720" y="2743200"/>
            <a:ext cx="4114800" cy="320040"/>
          </a:xfrm>
          <a:prstGeom prst="roundRect">
            <a:avLst>
              <a:gd name="adj" fmla="val 28571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17720" y="2898648"/>
            <a:ext cx="411480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2743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Runtime LLMOps Object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54880" y="3090672"/>
            <a:ext cx="384048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 · model · prompt_version</a:t>
            </a:r>
            <a:endParaRPr lang="en-US" sz="9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schema_version · validation_status</a:t>
            </a:r>
            <a:endParaRPr lang="en-US" sz="9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latency_ms · cost_usd · total_tokens</a:t>
            </a:r>
            <a:endParaRPr lang="en-US" sz="9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fallback_reason · fallback_detail</a:t>
            </a:r>
            <a:endParaRPr lang="en-US" sz="9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usage_source  (live | unavailable)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&amp; Quality Gates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A5568"/>
                </a:solidFill>
              </a:rPr>
              <a:t>Offline golden eval + live pipeline + CI/CD gating on every push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033272"/>
            <a:ext cx="2651760" cy="37033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33272"/>
            <a:ext cx="2651760" cy="365760"/>
          </a:xfrm>
          <a:prstGeom prst="roundRect">
            <a:avLst>
              <a:gd name="adj" fmla="val 3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2651760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332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Offline Golden Eval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1435608"/>
            <a:ext cx="2322576" cy="3227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</a:t>
            </a:r>
            <a:endParaRPr lang="en-US" sz="9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invoice_extraction_v2.jsonl</a:t>
            </a:r>
            <a:endParaRPr lang="en-US" sz="950" dirty="0"/>
          </a:p>
          <a:p>
            <a:pPr marL="0" indent="0" algn="l">
              <a:lnSpc>
                <a:spcPct val="135000"/>
              </a:lnSpc>
              <a:buNone/>
            </a:pPr>
            <a:endParaRPr lang="en-US" sz="9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&gt;= 80% accuracy</a:t>
            </a:r>
            <a:endParaRPr lang="en-US" sz="9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 required</a:t>
            </a:r>
            <a:endParaRPr lang="en-US" sz="950" dirty="0"/>
          </a:p>
          <a:p>
            <a:pPr marL="0" indent="0" algn="l">
              <a:lnSpc>
                <a:spcPct val="135000"/>
              </a:lnSpc>
              <a:buNone/>
            </a:pPr>
            <a:endParaRPr lang="en-US" sz="9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</a:t>
            </a:r>
            <a:endParaRPr lang="en-US" sz="9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Scalar field accuracy</a:t>
            </a:r>
            <a:endParaRPr lang="en-US" sz="9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Order-item field accuracy</a:t>
            </a:r>
            <a:endParaRPr lang="en-US" sz="9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Flattened path scoring</a:t>
            </a:r>
            <a:endParaRPr lang="en-US" sz="9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(order_items[0].qty etc.)</a:t>
            </a:r>
            <a:endParaRPr lang="en-US" sz="950" dirty="0"/>
          </a:p>
          <a:p>
            <a:pPr marL="0" indent="0" algn="l">
              <a:lnSpc>
                <a:spcPct val="135000"/>
              </a:lnSpc>
              <a:buNone/>
            </a:pPr>
            <a:endParaRPr lang="en-US" sz="9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Exits code 1 on fail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033272"/>
            <a:ext cx="2651760" cy="37033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33272"/>
            <a:ext cx="2651760" cy="365760"/>
          </a:xfrm>
          <a:prstGeom prst="roundRect">
            <a:avLst>
              <a:gd name="adj" fmla="val 3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234440"/>
            <a:ext cx="265176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0332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Live LLMOps Pipeline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10712" y="1435608"/>
            <a:ext cx="2322576" cy="3227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provider per example</a:t>
            </a:r>
            <a:endParaRPr lang="en-US" sz="9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JSON vs schema</a:t>
            </a:r>
            <a:endParaRPr lang="en-US" sz="9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field accuracy</a:t>
            </a:r>
            <a:endParaRPr lang="en-US" sz="950" dirty="0"/>
          </a:p>
          <a:p>
            <a:pPr marL="0" indent="0" algn="l">
              <a:lnSpc>
                <a:spcPct val="135000"/>
              </a:lnSpc>
              <a:buNone/>
            </a:pPr>
            <a:endParaRPr lang="en-US" sz="9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generated:</a:t>
            </a:r>
            <a:endParaRPr lang="en-US" sz="9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live_eval_report.json</a:t>
            </a:r>
            <a:endParaRPr lang="en-US" sz="9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live_eval_report.html</a:t>
            </a:r>
            <a:endParaRPr lang="en-US" sz="9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field_accuracy_chart.png</a:t>
            </a:r>
            <a:endParaRPr lang="en-US" sz="9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provider_latency_chart.png</a:t>
            </a:r>
            <a:endParaRPr lang="en-US" sz="9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pipeline_dag.mmd</a:t>
            </a:r>
            <a:endParaRPr lang="en-US" sz="950" dirty="0"/>
          </a:p>
          <a:p>
            <a:pPr marL="0" indent="0" algn="l">
              <a:lnSpc>
                <a:spcPct val="135000"/>
              </a:lnSpc>
              <a:buNone/>
            </a:pPr>
            <a:endParaRPr lang="en-US" sz="9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OPENAI_API_KEY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80760" y="1033272"/>
            <a:ext cx="2651760" cy="37033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033272"/>
            <a:ext cx="2651760" cy="365760"/>
          </a:xfrm>
          <a:prstGeom prst="roundRect">
            <a:avLst>
              <a:gd name="adj" fmla="val 30000"/>
            </a:avLst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234440"/>
            <a:ext cx="2651760" cy="164592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0332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GitHub Actions CI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45352" y="1435608"/>
            <a:ext cx="2322576" cy="3227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push / PR / dispatch</a:t>
            </a:r>
            <a:endParaRPr lang="en-US" sz="950" dirty="0"/>
          </a:p>
          <a:p>
            <a:pPr marL="0" indent="0" algn="l">
              <a:lnSpc>
                <a:spcPct val="135000"/>
              </a:lnSpc>
              <a:buNone/>
            </a:pPr>
            <a:endParaRPr lang="en-US" sz="9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Install locked deps (uv)</a:t>
            </a:r>
            <a:endParaRPr lang="en-US" sz="9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Lint  (ruff check)</a:t>
            </a:r>
            <a:endParaRPr lang="en-US" sz="9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Compile Python modules</a:t>
            </a:r>
            <a:endParaRPr lang="en-US" sz="9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Validate docker-compose</a:t>
            </a:r>
            <a:endParaRPr lang="en-US" sz="9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Unit tests  (pytest)</a:t>
            </a:r>
            <a:endParaRPr lang="en-US" sz="9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Offline golden eval &gt;= 80%</a:t>
            </a:r>
            <a:endParaRPr lang="en-US" sz="9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Upload eval report</a:t>
            </a:r>
            <a:endParaRPr lang="en-US" sz="9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Require OPENAI_API_KEY</a:t>
            </a:r>
            <a:endParaRPr lang="en-US" sz="9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Live LLMOps pipeline</a:t>
            </a:r>
            <a:endParaRPr lang="en-US" sz="9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Upload live artifacts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840480"/>
            <a:ext cx="2286000" cy="22860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4023360"/>
            <a:ext cx="1645920" cy="164592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 &amp; Governance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ADCFC"/>
                </a:solidFill>
              </a:rPr>
              <a:t>Metrics · Tracing · Cost tracking · Privacy controls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4005072" cy="1755648"/>
          </a:xfrm>
          <a:prstGeom prst="roundRect">
            <a:avLst>
              <a:gd name="adj" fmla="val 6250"/>
            </a:avLst>
          </a:prstGeom>
          <a:solidFill>
            <a:srgbClr val="14283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9496" y="1197864"/>
            <a:ext cx="109728" cy="384048"/>
          </a:xfrm>
          <a:prstGeom prst="roundRect">
            <a:avLst>
              <a:gd name="adj" fmla="val 3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" y="1188720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2376" y="1554480"/>
            <a:ext cx="35478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App exports /metrics on port 9108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Pushgateway: batch pipeline gauges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LLMOps cost dashboard pre-provisioned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docker compose: app · prometheus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pushgateway · grafana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81728" y="1078992"/>
            <a:ext cx="4005072" cy="1755648"/>
          </a:xfrm>
          <a:prstGeom prst="roundRect">
            <a:avLst>
              <a:gd name="adj" fmla="val 6250"/>
            </a:avLst>
          </a:prstGeom>
          <a:solidFill>
            <a:srgbClr val="14283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9744" y="1197864"/>
            <a:ext cx="109728" cy="384048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92624" y="1188720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Privacy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92624" y="1554480"/>
            <a:ext cx="35478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Traces → outputs/llmops_traces.jsonl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Raw OCR text redacted by default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LLMOPS_TRACE_TEXT=true only locally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 customer docs or API keys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committed to the repository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944368"/>
            <a:ext cx="4005072" cy="1755648"/>
          </a:xfrm>
          <a:prstGeom prst="roundRect">
            <a:avLst>
              <a:gd name="adj" fmla="val 6250"/>
            </a:avLst>
          </a:prstGeom>
          <a:solidFill>
            <a:srgbClr val="14283F"/>
          </a:solidFill>
          <a:ln w="12700">
            <a:solidFill>
              <a:srgbClr val="1D6FA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9496" y="3063240"/>
            <a:ext cx="109728" cy="384048"/>
          </a:xfrm>
          <a:prstGeom prst="roundRect">
            <a:avLst>
              <a:gd name="adj" fmla="val 33333"/>
            </a:avLst>
          </a:prstGeom>
          <a:solidFill>
            <a:srgbClr val="1D6FA6"/>
          </a:solidFill>
          <a:ln w="12700">
            <a:solidFill>
              <a:srgbClr val="1D6F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" y="3054096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Token Tracking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2376" y="3419856"/>
            <a:ext cx="35478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prompt / completion / total tokens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USD cost via model_pricing.yaml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usage_source: live vs unavailable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Aggregate totals in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live_eval_report.json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81728" y="2944368"/>
            <a:ext cx="4005072" cy="1755648"/>
          </a:xfrm>
          <a:prstGeom prst="roundRect">
            <a:avLst>
              <a:gd name="adj" fmla="val 6250"/>
            </a:avLst>
          </a:prstGeom>
          <a:solidFill>
            <a:srgbClr val="14283F"/>
          </a:solidFill>
          <a:ln w="12700">
            <a:solidFill>
              <a:srgbClr val="B45309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9744" y="3063240"/>
            <a:ext cx="109728" cy="384048"/>
          </a:xfrm>
          <a:prstGeom prst="roundRect">
            <a:avLst>
              <a:gd name="adj" fmla="val 33333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92624" y="3054096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Governance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92624" y="3419856"/>
            <a:ext cx="35478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fallback_reason: machine-readable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gpt_unavailable_local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gpt_policy_block_local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qwen_unavailable_local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Fallback keys allowed in schema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522</Words>
  <Application>Microsoft Macintosh PowerPoint</Application>
  <PresentationFormat>On-screen Show (16:9)</PresentationFormat>
  <Paragraphs>121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LLMOps in gl-doc-capstone</dc:title>
  <dc:subject>PptxGenJS Presentation</dc:subject>
  <dc:creator>PptxGenJS</dc:creator>
  <cp:lastModifiedBy>Suresh Muthukrishnan</cp:lastModifiedBy>
  <cp:revision>2</cp:revision>
  <dcterms:created xsi:type="dcterms:W3CDTF">2026-06-27T15:59:20Z</dcterms:created>
  <dcterms:modified xsi:type="dcterms:W3CDTF">2026-06-27T16:16:33Z</dcterms:modified>
</cp:coreProperties>
</file>